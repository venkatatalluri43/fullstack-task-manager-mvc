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-2743200"/>
            <a:ext cx="4572000" cy="4572000"/>
          </a:xfrm>
          <a:prstGeom prst="ellipse">
            <a:avLst/>
          </a:prstGeom>
          <a:solidFill>
            <a:srgbClr val="1F1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40680" y="1554480"/>
            <a:ext cx="1280160" cy="128016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8B5CF6"/>
              </a:gs>
              <a:gs pos="100000">
                <a:srgbClr val="22D3E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0B0D12"/>
                </a:solidFill>
              </a:rPr>
              <a:t>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3F4F8"/>
                </a:solidFill>
                <a:latin typeface="Inter"/>
              </a:rPr>
              <a:t>Taskflow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7CAD6"/>
                </a:solidFill>
                <a:latin typeface="Inter"/>
              </a:rPr>
              <a:t>A Full-Stack Multi-User Task Manager — Built, Containerized, and CI/CD-Tested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C90A1"/>
                </a:solidFill>
                <a:latin typeface="Inter"/>
              </a:rPr>
              <a:t>Production-style deployment simulation: React · Flask · SQLite · Docker · GitHub Actions · Kubernetes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0A1"/>
                </a:solidFill>
                <a:latin typeface="Inter"/>
              </a:rPr>
              <a:t>Taskflow — Multi-user Task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90A1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3F4F8"/>
                </a:solidFill>
                <a:latin typeface="Inter"/>
              </a:rP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7CAD6"/>
                </a:solidFill>
                <a:latin typeface="Inter"/>
              </a:rPr>
              <a:t>Simulate a production-like full-stack deployment, end-to-end, on a developer laptop.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542032" cy="192024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2542032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194560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F4F8"/>
                </a:solidFill>
                <a:latin typeface="Inter"/>
              </a:rPr>
              <a:t>MVC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788920"/>
            <a:ext cx="21396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90A1"/>
                </a:solidFill>
                <a:latin typeface="Inter"/>
              </a:rPr>
              <a:t>Clean separation of models, views, and controllers on the backend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920240"/>
            <a:ext cx="2542032" cy="192024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920240"/>
            <a:ext cx="2542032" cy="50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2194560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F4F8"/>
                </a:solidFill>
                <a:latin typeface="Inter"/>
              </a:rPr>
              <a:t>Full-Stack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788920"/>
            <a:ext cx="21396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90A1"/>
                </a:solidFill>
                <a:latin typeface="Inter"/>
              </a:rPr>
              <a:t>React frontend + Flask REST API + SQLite — a real multi-user CRUD product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920240"/>
            <a:ext cx="2542032" cy="192024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920240"/>
            <a:ext cx="2542032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2194560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F4F8"/>
                </a:solidFill>
                <a:latin typeface="Inter"/>
              </a:rPr>
              <a:t>Containerized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788920"/>
            <a:ext cx="21396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90A1"/>
                </a:solidFill>
                <a:latin typeface="Inter"/>
              </a:rPr>
              <a:t>Docker images for every service, orchestrated with docker-compose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920240"/>
            <a:ext cx="2542032" cy="192024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1920240"/>
            <a:ext cx="2542032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2194560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F4F8"/>
                </a:solidFill>
                <a:latin typeface="Inter"/>
              </a:rPr>
              <a:t>CI/CD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2788920"/>
            <a:ext cx="21396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90A1"/>
                </a:solidFill>
                <a:latin typeface="Inter"/>
              </a:rPr>
              <a:t>GitHub Actions: lint, test, build images, run integration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C7CAD6"/>
                </a:solidFill>
                <a:latin typeface="Inter"/>
              </a:rPr>
              <a:t>Why it matters: this mirrors a real engineering workflow — design, build, containerize, automate testing/deployment, and (optionally) simulate Kubernetes infrastructure — compressed into something runnable entirely on a laptop.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0A1"/>
                </a:solidFill>
                <a:latin typeface="Inter"/>
              </a:rPr>
              <a:t>Taskflow — Multi-user Task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90A1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3F4F8"/>
                </a:solidFill>
                <a:latin typeface="Inter"/>
              </a:rPr>
              <a:t>Architecture — MVC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7CAD6"/>
                </a:solidFill>
                <a:latin typeface="Inter"/>
              </a:rPr>
              <a:t>Clear separation of concerns across the backend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291840" cy="310896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9659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B0D12"/>
                </a:solidFill>
                <a:latin typeface="Inter"/>
              </a:rPr>
              <a:t>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14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90A1"/>
                </a:solidFill>
                <a:latin typeface="Inter"/>
              </a:rPr>
              <a:t>SQLAlchemy 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1752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C7CAD6"/>
                </a:solidFill>
                <a:latin typeface="Inter"/>
              </a:rPr>
              <a:t>▸  User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C7CAD6"/>
                </a:solidFill>
                <a:latin typeface="Inter"/>
              </a:rPr>
              <a:t>▸  Project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C7CAD6"/>
                </a:solidFill>
                <a:latin typeface="Inter"/>
              </a:rPr>
              <a:t>▸  Task</a:t>
            </a:r>
          </a:p>
        </p:txBody>
      </p:sp>
      <p:sp>
        <p:nvSpPr>
          <p:cNvPr id="9" name="Chevron 8"/>
          <p:cNvSpPr/>
          <p:nvPr/>
        </p:nvSpPr>
        <p:spPr>
          <a:xfrm>
            <a:off x="4174800" y="3154680"/>
            <a:ext cx="200040" cy="274320"/>
          </a:xfrm>
          <a:prstGeom prst="chevron">
            <a:avLst/>
          </a:prstGeom>
          <a:solidFill>
            <a:srgbClr val="8C9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291840" cy="310896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19659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B0D12"/>
                </a:solidFill>
                <a:latin typeface="Inter"/>
              </a:rPr>
              <a:t>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514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90A1"/>
                </a:solidFill>
                <a:latin typeface="Inter"/>
              </a:rPr>
              <a:t>Flask Blueprints (routing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1752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C7CAD6"/>
                </a:solidFill>
                <a:latin typeface="Inter"/>
              </a:rPr>
              <a:t>▸  /api/auth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C7CAD6"/>
                </a:solidFill>
                <a:latin typeface="Inter"/>
              </a:rPr>
              <a:t>▸  /api/projects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C7CAD6"/>
                </a:solidFill>
                <a:latin typeface="Inter"/>
              </a:rPr>
              <a:t>▸  /api/tasks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C7CAD6"/>
                </a:solidFill>
                <a:latin typeface="Inter"/>
              </a:rPr>
              <a:t>▸  /api/users</a:t>
            </a:r>
          </a:p>
        </p:txBody>
      </p:sp>
      <p:sp>
        <p:nvSpPr>
          <p:cNvPr id="14" name="Chevron 13"/>
          <p:cNvSpPr/>
          <p:nvPr/>
        </p:nvSpPr>
        <p:spPr>
          <a:xfrm>
            <a:off x="7786680" y="3154680"/>
            <a:ext cx="200040" cy="274320"/>
          </a:xfrm>
          <a:prstGeom prst="chevron">
            <a:avLst/>
          </a:prstGeom>
          <a:solidFill>
            <a:srgbClr val="8C9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291840" cy="310896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75320" y="19659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B0D12"/>
                </a:solidFill>
                <a:latin typeface="Inter"/>
              </a:rPr>
              <a:t>CONTROLLERS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514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90A1"/>
                </a:solidFill>
                <a:latin typeface="Inter"/>
              </a:rPr>
              <a:t>Business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01752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C7CAD6"/>
                </a:solidFill>
                <a:latin typeface="Inter"/>
              </a:rPr>
              <a:t>▸  Ownership checks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C7CAD6"/>
                </a:solidFill>
                <a:latin typeface="Inter"/>
              </a:rPr>
              <a:t>▸  Assignment rules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C7CAD6"/>
                </a:solidFill>
                <a:latin typeface="Inter"/>
              </a:rPr>
              <a:t>▸ 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7CAD6"/>
                </a:solidFill>
                <a:latin typeface="Inter"/>
              </a:rPr>
              <a:t>Frontend mirrors the same discipline: pages/ (route-level screens) call services/api.js, state lives in context/ (AuthContext), and components/ stay presentational and reusable.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0A1"/>
                </a:solidFill>
                <a:latin typeface="Inter"/>
              </a:rPr>
              <a:t>Taskflow — Multi-user Task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90A1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3F4F8"/>
                </a:solidFill>
                <a:latin typeface="Inter"/>
              </a:rP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1609344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1790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C90A1"/>
                </a:solidFill>
                <a:latin typeface="Inter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828800"/>
            <a:ext cx="3026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F4F8"/>
                </a:solidFill>
                <a:latin typeface="Inter"/>
              </a:rPr>
              <a:t>Python + Flask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30266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0A1"/>
                </a:solidFill>
                <a:latin typeface="Inter"/>
              </a:rPr>
              <a:t>REST API, JWT auth, bcrypt password hashing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98848" y="1609344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51790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C90A1"/>
                </a:solidFill>
                <a:latin typeface="Inter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828800"/>
            <a:ext cx="3026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F4F8"/>
                </a:solidFill>
                <a:latin typeface="Inter"/>
              </a:rPr>
              <a:t>React + Vite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212848"/>
            <a:ext cx="30266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0A1"/>
                </a:solidFill>
                <a:latin typeface="Inter"/>
              </a:rPr>
              <a:t>React Router, dark-themed SPA, component-driven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37160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56448" y="1609344"/>
            <a:ext cx="128016" cy="12801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51790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C90A1"/>
                </a:solidFill>
                <a:latin typeface="Inter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1828800"/>
            <a:ext cx="3026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F4F8"/>
                </a:solidFill>
                <a:latin typeface="Inter"/>
              </a:rPr>
              <a:t>SQLite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212848"/>
            <a:ext cx="30266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0A1"/>
                </a:solidFill>
                <a:latin typeface="Inter"/>
              </a:rPr>
              <a:t>Lightweight, file-based, zero external dependency for local dev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01752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8" y="3255264"/>
            <a:ext cx="128016" cy="12801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1638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C90A1"/>
                </a:solidFill>
                <a:latin typeface="Inter"/>
              </a:rPr>
              <a:t>Containers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3474720"/>
            <a:ext cx="3026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F4F8"/>
                </a:solidFill>
                <a:latin typeface="Inter"/>
              </a:rPr>
              <a:t>Docker + docker-compose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3858768"/>
            <a:ext cx="30266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0A1"/>
                </a:solidFill>
                <a:latin typeface="Inter"/>
              </a:rPr>
              <a:t>Per-service Dockerfiles, Nginx reverse proxy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01752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98848" y="3255264"/>
            <a:ext cx="128016" cy="128016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31638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C90A1"/>
                </a:solidFill>
                <a:latin typeface="Inter"/>
              </a:rPr>
              <a:t>CI/CD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3474720"/>
            <a:ext cx="3026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F4F8"/>
                </a:solidFill>
                <a:latin typeface="Inter"/>
              </a:rPr>
              <a:t>GitHub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3858768"/>
            <a:ext cx="30266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0A1"/>
                </a:solidFill>
                <a:latin typeface="Inter"/>
              </a:rPr>
              <a:t>Lint → test → build images → integration test, on every push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301752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56448" y="3255264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1638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C90A1"/>
                </a:solidFill>
                <a:latin typeface="Inter"/>
              </a:rPr>
              <a:t>Infra Sim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3474720"/>
            <a:ext cx="3026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F4F8"/>
                </a:solidFill>
                <a:latin typeface="Inter"/>
              </a:rPr>
              <a:t>Nginx + Kubernetes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3858768"/>
            <a:ext cx="30266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0A1"/>
                </a:solidFill>
                <a:latin typeface="Inter"/>
              </a:rPr>
              <a:t>Reverse proxy routing; K8s manifests for Minikube/Kind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0A1"/>
                </a:solidFill>
                <a:latin typeface="Inter"/>
              </a:rPr>
              <a:t>Taskflow — Multi-user Task Manager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90A1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3F4F8"/>
                </a:solidFill>
                <a:latin typeface="Inter"/>
              </a:rPr>
              <a:t>The End-to-End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7CAD6"/>
                </a:solidFill>
                <a:latin typeface="Inter"/>
              </a:rPr>
              <a:t>Not just a CRUD list — a real small-team workflow, start to finish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828800"/>
            <a:ext cx="329184" cy="32918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0D12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81051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4F8"/>
                </a:solidFill>
                <a:latin typeface="Inter"/>
              </a:rPr>
              <a:t>Sign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30266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C90A1"/>
                </a:solidFill>
                <a:latin typeface="Inter"/>
              </a:rPr>
              <a:t>Register / log in with JWT auth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1828800"/>
            <a:ext cx="329184" cy="32918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0D12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181051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4F8"/>
                </a:solidFill>
                <a:latin typeface="Inter"/>
              </a:rPr>
              <a:t>Onboard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286000"/>
            <a:ext cx="30266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C90A1"/>
                </a:solidFill>
                <a:latin typeface="Inter"/>
              </a:rPr>
              <a:t>First-time users are guided to create their first project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4592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0" y="1828800"/>
            <a:ext cx="329184" cy="32918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0D12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181051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4F8"/>
                </a:solidFill>
                <a:latin typeface="Inter"/>
              </a:rPr>
              <a:t>Create a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286000"/>
            <a:ext cx="30266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C90A1"/>
                </a:solidFill>
                <a:latin typeface="Inter"/>
              </a:rPr>
              <a:t>Group related work under a shared goal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4612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429000"/>
            <a:ext cx="329184" cy="32918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0D12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341071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4F8"/>
                </a:solidFill>
                <a:latin typeface="Inter"/>
              </a:rPr>
              <a:t>Add tasks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886200"/>
            <a:ext cx="30266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C90A1"/>
                </a:solidFill>
                <a:latin typeface="Inter"/>
              </a:rPr>
              <a:t>Set priority (Low/Med/High) and a due 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24612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80560" y="3429000"/>
            <a:ext cx="329184" cy="32918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0D12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9472" y="341071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4F8"/>
                </a:solidFill>
                <a:latin typeface="Inter"/>
              </a:rPr>
              <a:t>Assign teammates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3886200"/>
            <a:ext cx="30266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C90A1"/>
                </a:solidFill>
                <a:latin typeface="Inter"/>
              </a:rPr>
              <a:t>Delegate tasks to any registered user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0" y="324612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38160" y="3429000"/>
            <a:ext cx="329184" cy="32918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0D12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7072" y="341071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4F8"/>
                </a:solidFill>
                <a:latin typeface="Inter"/>
              </a:rPr>
              <a:t>Track to completion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3886200"/>
            <a:ext cx="30266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C90A1"/>
                </a:solidFill>
                <a:latin typeface="Inter"/>
              </a:rPr>
              <a:t>Dashboard, per-project progress, and "My Work" views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0A1"/>
                </a:solidFill>
                <a:latin typeface="Inter"/>
              </a:rPr>
              <a:t>Taskflow — Multi-user Task Manager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90A1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3F4F8"/>
                </a:solidFill>
                <a:latin typeface="Inter"/>
              </a:rPr>
              <a:t>Day One: Guided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CAD6"/>
                </a:solidFill>
                <a:latin typeface="Inter"/>
              </a:rPr>
              <a:t>A first-time user never lands on an empty, confusing screen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3704" y="1341600"/>
            <a:ext cx="7814112" cy="4906320"/>
          </a:xfrm>
          <a:prstGeom prst="roundRect">
            <a:avLst>
              <a:gd name="adj" fmla="val 3000"/>
            </a:avLst>
          </a:prstGeom>
          <a:solidFill>
            <a:srgbClr val="05060A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-onboar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" y="1371600"/>
            <a:ext cx="7754112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0A1"/>
                </a:solidFill>
                <a:latin typeface="Inter"/>
              </a:rPr>
              <a:t>Taskflow — Multi-user Task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90A1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3F4F8"/>
                </a:solidFill>
                <a:latin typeface="Inter"/>
              </a:rPr>
              <a:t>Projects, Priority &amp;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CAD6"/>
                </a:solidFill>
                <a:latin typeface="Inter"/>
              </a:rPr>
              <a:t>Tasks carry priority, due dates, and can be delegated to any teammate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3704" y="1341600"/>
            <a:ext cx="7814112" cy="4906320"/>
          </a:xfrm>
          <a:prstGeom prst="roundRect">
            <a:avLst>
              <a:gd name="adj" fmla="val 3000"/>
            </a:avLst>
          </a:prstGeom>
          <a:solidFill>
            <a:srgbClr val="05060A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-project-detail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" y="1371600"/>
            <a:ext cx="7754112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0A1"/>
                </a:solidFill>
                <a:latin typeface="Inter"/>
              </a:rPr>
              <a:t>Taskflow — Multi-user Task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90A1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3F4F8"/>
                </a:solidFill>
                <a:latin typeface="Inter"/>
              </a:rPr>
              <a:t>Dashboard: Progress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CAD6"/>
                </a:solidFill>
                <a:latin typeface="Inter"/>
              </a:rPr>
              <a:t>Live stats across projects, plus what's assigned to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3704" y="1341600"/>
            <a:ext cx="7814112" cy="4906320"/>
          </a:xfrm>
          <a:prstGeom prst="roundRect">
            <a:avLst>
              <a:gd name="adj" fmla="val 3000"/>
            </a:avLst>
          </a:prstGeom>
          <a:solidFill>
            <a:srgbClr val="05060A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" y="1371600"/>
            <a:ext cx="7754112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0A1"/>
                </a:solidFill>
                <a:latin typeface="Inter"/>
              </a:rPr>
              <a:t>Taskflow — Multi-user Task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90A1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3F4F8"/>
                </a:solidFill>
                <a:latin typeface="Inter"/>
              </a:rPr>
              <a:t>My Work: One View, Every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CAD6"/>
                </a:solidFill>
                <a:latin typeface="Inter"/>
              </a:rPr>
              <a:t>Everything assigned to you, filterable by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3704" y="1341600"/>
            <a:ext cx="7814112" cy="4906320"/>
          </a:xfrm>
          <a:prstGeom prst="roundRect">
            <a:avLst>
              <a:gd name="adj" fmla="val 3000"/>
            </a:avLst>
          </a:prstGeom>
          <a:solidFill>
            <a:srgbClr val="05060A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-my-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" y="1371600"/>
            <a:ext cx="7754112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0A1"/>
                </a:solidFill>
                <a:latin typeface="Inter"/>
              </a:rPr>
              <a:t>Taskflow — Multi-user Task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90A1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3F4F8"/>
                </a:solidFill>
                <a:latin typeface="Inter"/>
              </a:rPr>
              <a:t>Containerization &amp; CI/CD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2377440" cy="11887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2377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3F4F8"/>
                </a:solidFill>
                <a:latin typeface="Inter"/>
              </a:rPr>
              <a:t>Lint &amp; Test</a:t>
            </a:r>
          </a:p>
          <a:p>
            <a:pPr algn="ctr"/>
            <a:r>
              <a:rPr sz="1300" b="1">
                <a:solidFill>
                  <a:srgbClr val="F3F4F8"/>
                </a:solidFill>
                <a:latin typeface="Inter"/>
              </a:rPr>
              <a:t>(backend + frontend)</a:t>
            </a:r>
          </a:p>
        </p:txBody>
      </p:sp>
      <p:sp>
        <p:nvSpPr>
          <p:cNvPr id="6" name="Chevron 5"/>
          <p:cNvSpPr/>
          <p:nvPr/>
        </p:nvSpPr>
        <p:spPr>
          <a:xfrm>
            <a:off x="3290400" y="2011680"/>
            <a:ext cx="322920" cy="274320"/>
          </a:xfrm>
          <a:prstGeom prst="chevron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03320" y="1554480"/>
            <a:ext cx="2377440" cy="11887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691640"/>
            <a:ext cx="2377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3F4F8"/>
                </a:solidFill>
                <a:latin typeface="Inter"/>
              </a:rPr>
              <a:t>Build Docker</a:t>
            </a:r>
          </a:p>
          <a:p>
            <a:pPr algn="ctr"/>
            <a:r>
              <a:rPr sz="1300" b="1">
                <a:solidFill>
                  <a:srgbClr val="F3F4F8"/>
                </a:solidFill>
                <a:latin typeface="Inter"/>
              </a:rPr>
              <a:t>Images</a:t>
            </a:r>
          </a:p>
        </p:txBody>
      </p:sp>
      <p:sp>
        <p:nvSpPr>
          <p:cNvPr id="9" name="Chevron 8"/>
          <p:cNvSpPr/>
          <p:nvPr/>
        </p:nvSpPr>
        <p:spPr>
          <a:xfrm>
            <a:off x="6170760" y="2011680"/>
            <a:ext cx="322920" cy="274320"/>
          </a:xfrm>
          <a:prstGeom prst="chevron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1554480"/>
            <a:ext cx="2377440" cy="11887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91640"/>
            <a:ext cx="2377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3F4F8"/>
                </a:solidFill>
                <a:latin typeface="Inter"/>
              </a:rPr>
              <a:t>docker-compose</a:t>
            </a:r>
          </a:p>
          <a:p>
            <a:pPr algn="ctr"/>
            <a:r>
              <a:rPr sz="1300" b="1">
                <a:solidFill>
                  <a:srgbClr val="F3F4F8"/>
                </a:solidFill>
                <a:latin typeface="Inter"/>
              </a:rPr>
              <a:t>Up</a:t>
            </a:r>
          </a:p>
        </p:txBody>
      </p:sp>
      <p:sp>
        <p:nvSpPr>
          <p:cNvPr id="12" name="Chevron 11"/>
          <p:cNvSpPr/>
          <p:nvPr/>
        </p:nvSpPr>
        <p:spPr>
          <a:xfrm>
            <a:off x="9051120" y="2011680"/>
            <a:ext cx="322920" cy="274320"/>
          </a:xfrm>
          <a:prstGeom prst="chevron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64040" y="1554480"/>
            <a:ext cx="2377440" cy="11887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1691640"/>
            <a:ext cx="2377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3F4F8"/>
                </a:solidFill>
                <a:latin typeface="Inter"/>
              </a:rPr>
              <a:t>Integration</a:t>
            </a:r>
          </a:p>
          <a:p>
            <a:pPr algn="ctr"/>
            <a:r>
              <a:rPr sz="1300" b="1">
                <a:solidFill>
                  <a:srgbClr val="F3F4F8"/>
                </a:solidFill>
                <a:latin typeface="Inter"/>
              </a:rPr>
              <a:t>Smoke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0040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F3F4F8"/>
                </a:solidFill>
                <a:latin typeface="Inter"/>
              </a:rPr>
              <a:t>▸  GitHub Actions</a:t>
            </a:r>
            <a:r>
              <a:rPr sz="1200">
                <a:solidFill>
                  <a:srgbClr val="C7CAD6"/>
                </a:solidFill>
                <a:latin typeface="Inter"/>
              </a:rPr>
              <a:t>  —  runs on every push to main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F3F4F8"/>
                </a:solidFill>
                <a:latin typeface="Inter"/>
              </a:rPr>
              <a:t>▸  Dockerfiles</a:t>
            </a:r>
            <a:r>
              <a:rPr sz="1200">
                <a:solidFill>
                  <a:srgbClr val="C7CAD6"/>
                </a:solidFill>
                <a:latin typeface="Inter"/>
              </a:rPr>
              <a:t>  —  per service — backend (gunicorn) and frontend (nginx-served SPA)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F3F4F8"/>
                </a:solidFill>
                <a:latin typeface="Inter"/>
              </a:rPr>
              <a:t>▸  docker-compose</a:t>
            </a:r>
            <a:r>
              <a:rPr sz="1200">
                <a:solidFill>
                  <a:srgbClr val="C7CAD6"/>
                </a:solidFill>
                <a:latin typeface="Inter"/>
              </a:rPr>
              <a:t>  —  wires backend, frontend, and an Nginx reverse proxy together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F3F4F8"/>
                </a:solidFill>
                <a:latin typeface="Inter"/>
              </a:rPr>
              <a:t>▸  Integration test</a:t>
            </a:r>
            <a:r>
              <a:rPr sz="1200">
                <a:solidFill>
                  <a:srgbClr val="C7CAD6"/>
                </a:solidFill>
                <a:latin typeface="Inter"/>
              </a:rPr>
              <a:t>  —  registers a user, creates a project + task, verifies the stack end-to-end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F3F4F8"/>
                </a:solidFill>
                <a:latin typeface="Inter"/>
              </a:rPr>
              <a:t>▸  Infra simulation</a:t>
            </a:r>
            <a:r>
              <a:rPr sz="1200">
                <a:solidFill>
                  <a:srgbClr val="C7CAD6"/>
                </a:solidFill>
                <a:latin typeface="Inter"/>
              </a:rPr>
              <a:t>  —  standalone Nginx reverse proxy + Kubernetes manifests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F3F4F8"/>
                </a:solidFill>
                <a:latin typeface="Inter"/>
              </a:rPr>
              <a:t>▸  Kubernetes</a:t>
            </a:r>
            <a:r>
              <a:rPr sz="1200">
                <a:solidFill>
                  <a:srgbClr val="C7CAD6"/>
                </a:solidFill>
                <a:latin typeface="Inter"/>
              </a:rPr>
              <a:t>  —  Namespace, Deployments, Services, Secret, Ingress — for Minikube/Kind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F3F4F8"/>
                </a:solidFill>
                <a:latin typeface="Inter"/>
              </a:rPr>
              <a:t>▸  Verified</a:t>
            </a:r>
            <a:r>
              <a:rPr sz="1200">
                <a:solidFill>
                  <a:srgbClr val="C7CAD6"/>
                </a:solidFill>
                <a:latin typeface="Inter"/>
              </a:rPr>
              <a:t>  —  pipeline is green on GitHub — all 4 jobs passing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0A1"/>
                </a:solidFill>
                <a:latin typeface="Inter"/>
              </a:rPr>
              <a:t>Taskflow — Multi-user Task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90A1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3F4F8"/>
                </a:solidFill>
                <a:latin typeface="Inter"/>
              </a:rPr>
              <a:t>Quality &amp;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2468880" cy="16459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246888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3F4F8"/>
                </a:solidFill>
                <a:latin typeface="Inter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C90A1"/>
                </a:solidFill>
                <a:latin typeface="Inter"/>
              </a:rPr>
              <a:t>Backend tests</a:t>
            </a:r>
          </a:p>
          <a:p>
            <a:pPr algn="ctr"/>
            <a:r>
              <a:rPr sz="1200" b="0">
                <a:solidFill>
                  <a:srgbClr val="8C90A1"/>
                </a:solidFill>
                <a:latin typeface="Inter"/>
              </a:rPr>
              <a:t>(pytest)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554480"/>
            <a:ext cx="2468880" cy="16459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1554480"/>
            <a:ext cx="2468880" cy="50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3F4F8"/>
                </a:solidFill>
                <a:latin typeface="Inter"/>
              </a:rPr>
              <a:t>93%+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4688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C90A1"/>
                </a:solidFill>
                <a:latin typeface="Inter"/>
              </a:rPr>
              <a:t>Code coverage</a:t>
            </a:r>
          </a:p>
          <a:p>
            <a:pPr algn="ctr"/>
            <a:r>
              <a:rPr sz="1200" b="0">
                <a:solidFill>
                  <a:srgbClr val="8C90A1"/>
                </a:solidFill>
                <a:latin typeface="Inter"/>
              </a:rPr>
              <a:t>(backend)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54480"/>
            <a:ext cx="2468880" cy="16459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2468880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83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3F4F8"/>
                </a:solidFill>
                <a:latin typeface="Inter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4688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C90A1"/>
                </a:solidFill>
                <a:latin typeface="Inter"/>
              </a:rPr>
              <a:t>Flake8 / lint</a:t>
            </a:r>
          </a:p>
          <a:p>
            <a:pPr algn="ctr"/>
            <a:r>
              <a:rPr sz="1200" b="0">
                <a:solidFill>
                  <a:srgbClr val="8C90A1"/>
                </a:solidFill>
                <a:latin typeface="Inter"/>
              </a:rPr>
              <a:t>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554480"/>
            <a:ext cx="2468880" cy="16459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1554480"/>
            <a:ext cx="2468880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783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3F4F8"/>
                </a:solidFill>
                <a:latin typeface="Inter"/>
              </a:rPr>
              <a:t>4/4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4688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C90A1"/>
                </a:solidFill>
                <a:latin typeface="Inter"/>
              </a:rPr>
              <a:t>CI jobs</a:t>
            </a:r>
          </a:p>
          <a:p>
            <a:pPr algn="ctr"/>
            <a:r>
              <a:rPr sz="1200" b="0">
                <a:solidFill>
                  <a:srgbClr val="8C90A1"/>
                </a:solidFill>
                <a:latin typeface="Inter"/>
              </a:rPr>
              <a:t>passing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6576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F3F4F8"/>
                </a:solidFill>
                <a:latin typeface="Inter"/>
              </a:rPr>
              <a:t>▸  Authorization tested</a:t>
            </a:r>
            <a:r>
              <a:rPr sz="1300">
                <a:solidFill>
                  <a:srgbClr val="C7CAD6"/>
                </a:solidFill>
                <a:latin typeface="Inter"/>
              </a:rPr>
              <a:t>  —  assignees can update status only; owners can edit/delete; cross-user access is rejected (403)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3F4F8"/>
                </a:solidFill>
                <a:latin typeface="Inter"/>
              </a:rPr>
              <a:t>▸  Validation tested</a:t>
            </a:r>
            <a:r>
              <a:rPr sz="1300">
                <a:solidFill>
                  <a:srgbClr val="C7CAD6"/>
                </a:solidFill>
                <a:latin typeface="Inter"/>
              </a:rPr>
              <a:t>  —  required fields, invalid status/priority values, malformed dates all rejected (400)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3F4F8"/>
                </a:solidFill>
                <a:latin typeface="Inter"/>
              </a:rPr>
              <a:t>▸  Isolation tested</a:t>
            </a:r>
            <a:r>
              <a:rPr sz="1300">
                <a:solidFill>
                  <a:srgbClr val="C7CAD6"/>
                </a:solidFill>
                <a:latin typeface="Inter"/>
              </a:rPr>
              <a:t>  —  users only see their own projects/tasks by default, with an explicit opt-in to view everyone's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0A1"/>
                </a:solidFill>
                <a:latin typeface="Inter"/>
              </a:rPr>
              <a:t>Taskflow — Multi-user Task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90A1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3F4F8"/>
                </a:solidFill>
                <a:latin typeface="Inter"/>
              </a:rP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F3F4F8"/>
                </a:solidFill>
                <a:latin typeface="Inter"/>
              </a:rPr>
              <a:t>▸  Delivered</a:t>
            </a:r>
            <a:r>
              <a:rPr sz="1400">
                <a:solidFill>
                  <a:srgbClr val="C7CAD6"/>
                </a:solidFill>
                <a:latin typeface="Inter"/>
              </a:rPr>
              <a:t>  —  A working multi-user task manager with a real onboarding-to-completion journey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F3F4F8"/>
                </a:solidFill>
                <a:latin typeface="Inter"/>
              </a:rPr>
              <a:t>▸  Production-style practices</a:t>
            </a:r>
            <a:r>
              <a:rPr sz="1400">
                <a:solidFill>
                  <a:srgbClr val="C7CAD6"/>
                </a:solidFill>
                <a:latin typeface="Inter"/>
              </a:rPr>
              <a:t>  —  MVC separation, containerization, automated CI/CD, infra-as-code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F3F4F8"/>
                </a:solidFill>
                <a:latin typeface="Inter"/>
              </a:rPr>
              <a:t>▸  Verified</a:t>
            </a:r>
            <a:r>
              <a:rPr sz="1400">
                <a:solidFill>
                  <a:srgbClr val="C7CAD6"/>
                </a:solidFill>
                <a:latin typeface="Inter"/>
              </a:rPr>
              <a:t>  —  30 passing tests, clean lint, green CI pipeline on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5544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F3F4F8"/>
                </a:solidFill>
                <a:latin typeface="Inter"/>
              </a:rPr>
              <a:t>▸  Potential next steps</a:t>
            </a:r>
            <a:r>
              <a:rPr sz="1400">
                <a:solidFill>
                  <a:srgbClr val="C7CAD6"/>
                </a:solidFill>
                <a:latin typeface="Inter"/>
              </a:rPr>
              <a:t>  —  Swap SQLite for PostgreSQL to support true horizontal scaling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F3F4F8"/>
                </a:solidFill>
                <a:latin typeface="Inter"/>
              </a:rPr>
              <a:t>▸  Notifications</a:t>
            </a:r>
            <a:r>
              <a:rPr sz="1400">
                <a:solidFill>
                  <a:srgbClr val="C7CAD6"/>
                </a:solidFill>
                <a:latin typeface="Inter"/>
              </a:rPr>
              <a:t>  —  Email/in-app alerts when a task is assigned or nearing its due date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F3F4F8"/>
                </a:solidFill>
                <a:latin typeface="Inter"/>
              </a:rPr>
              <a:t>▸  Deploy for real</a:t>
            </a:r>
            <a:r>
              <a:rPr sz="1400">
                <a:solidFill>
                  <a:srgbClr val="C7CAD6"/>
                </a:solidFill>
                <a:latin typeface="Inter"/>
              </a:rPr>
              <a:t>  —  Point the existing Kubernetes manifests at a managed cluster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0A1"/>
                </a:solidFill>
                <a:latin typeface="Inter"/>
              </a:rPr>
              <a:t>Taskflow — Multi-user Task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90A1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